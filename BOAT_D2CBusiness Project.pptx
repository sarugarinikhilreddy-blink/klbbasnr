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8108" y="4402834"/>
            <a:ext cx="2926080" cy="2926080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-1097280" y="5212080"/>
            <a:ext cx="3108960" cy="3108960"/>
          </a:xfrm>
          <a:prstGeom prst="ellipse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9DAD6"/>
                </a:solidFill>
                <a:latin typeface="Aptos"/>
              </a:rPr>
              <a:t>BBA • BUSINESS STRATEGY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58368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4200" b="1" dirty="0">
                <a:solidFill>
                  <a:srgbClr val="F5F8FC"/>
                </a:solidFill>
                <a:latin typeface="Aptos"/>
              </a:rPr>
              <a:t>BOAT</a:t>
            </a:r>
            <a:endParaRPr sz="42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176272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AEBECF"/>
                </a:solidFill>
                <a:latin typeface="Aptos"/>
              </a:rPr>
              <a:t>D2C-Style Full Business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66751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F5F8FC"/>
                </a:solidFill>
                <a:latin typeface="Aptos"/>
              </a:rPr>
              <a:t>Applying all six Course Outcomes to </a:t>
            </a:r>
            <a:r>
              <a:rPr lang="en-US" sz="1500" dirty="0">
                <a:solidFill>
                  <a:srgbClr val="F5F8FC"/>
                </a:solidFill>
                <a:latin typeface="Aptos"/>
              </a:rPr>
              <a:t>BOAT company</a:t>
            </a:r>
            <a:endParaRPr sz="1500" b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3977639"/>
            <a:ext cx="3246120" cy="123444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59" y="4178807"/>
            <a:ext cx="54864" cy="83210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Review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81144"/>
            <a:ext cx="274320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ECF"/>
                </a:solidFill>
                <a:latin typeface="Aptos"/>
              </a:rPr>
              <a:t>Team → topic → six COs → data → final strategy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3977639"/>
            <a:ext cx="3246120" cy="123444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61104" y="4178807"/>
            <a:ext cx="54864" cy="832104"/>
          </a:xfrm>
          <a:prstGeom prst="roundRect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43984" y="4160520"/>
            <a:ext cx="2715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581144"/>
            <a:ext cx="27432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dirty="0">
                <a:solidFill>
                  <a:srgbClr val="AEBECF"/>
                </a:solidFill>
                <a:latin typeface="Aptos"/>
              </a:rPr>
              <a:t>BOAT</a:t>
            </a:r>
            <a:r>
              <a:rPr sz="1100" b="0" dirty="0">
                <a:solidFill>
                  <a:srgbClr val="AEBECF"/>
                </a:solidFill>
                <a:latin typeface="Aptos"/>
              </a:rPr>
              <a:t> customer-centric / D2C-style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32764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EBECF"/>
                </a:solidFill>
                <a:latin typeface="Aptos"/>
              </a:rPr>
              <a:t>01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583571CC-CC3A-BBC5-7C73-DE4E581D5E80}"/>
              </a:ext>
            </a:extLst>
          </p:cNvPr>
          <p:cNvSpPr/>
          <p:nvPr/>
        </p:nvSpPr>
        <p:spPr>
          <a:xfrm>
            <a:off x="8083296" y="5065775"/>
            <a:ext cx="3337560" cy="1600199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/>
              <a:t>BY~</a:t>
            </a:r>
          </a:p>
          <a:p>
            <a:r>
              <a:rPr lang="en-US" i="1" dirty="0"/>
              <a:t>S.NIKHIL REDDY</a:t>
            </a:r>
          </a:p>
          <a:p>
            <a:r>
              <a:rPr lang="en-US" i="1" dirty="0"/>
              <a:t>S.HARSHA VARDHAN REDDY</a:t>
            </a:r>
          </a:p>
          <a:p>
            <a:r>
              <a:rPr lang="en-US" i="1" dirty="0"/>
              <a:t>HARSHITH SINGH</a:t>
            </a:r>
          </a:p>
          <a:p>
            <a:r>
              <a:rPr lang="en-US" i="1" dirty="0"/>
              <a:t>Mehraj</a:t>
            </a:r>
            <a:endParaRPr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822960"/>
            <a:ext cx="3749039" cy="3749039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663440"/>
            <a:ext cx="2743200" cy="274320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5303520"/>
            <a:ext cx="2743200" cy="2743200"/>
          </a:xfrm>
          <a:prstGeom prst="ellipse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01 • </a:t>
            </a:r>
            <a:r>
              <a:rPr lang="en-US" sz="1000" b="1" dirty="0">
                <a:solidFill>
                  <a:srgbClr val="49DAD6"/>
                </a:solidFill>
                <a:latin typeface="Aptos"/>
              </a:rPr>
              <a:t>INTRO</a:t>
            </a:r>
            <a:endParaRPr sz="1000" b="1" dirty="0">
              <a:solidFill>
                <a:srgbClr val="49DAD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09828" y="1675531"/>
            <a:ext cx="54864" cy="3272040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1493621"/>
            <a:ext cx="8311896" cy="43550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Introduction – BOAT</a:t>
            </a:r>
          </a:p>
          <a:p>
            <a:endParaRPr lang="en-US" sz="3200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BOAT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is a leading Indian consumer electronics and lifestyle brand founded in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2016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It offers products such as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earphones, headphones, smartwatches, speakers, and other accessories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Boat follows a strong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Direct-to-Consumer (D2C) business model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, selling through its website and major online platforms. 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The brand focuses on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affordable pricing, trendy designs, and products targeted at young consumers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Through strong digital marketing and social-media presence, Boat has built a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powerful and recognizable brand among Indian consumers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algn="l"/>
            <a:endParaRPr sz="1300" b="1" dirty="0">
              <a:solidFill>
                <a:srgbClr val="F5F8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754880"/>
            <a:ext cx="2926080" cy="2926080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212080"/>
            <a:ext cx="3108960" cy="3108960"/>
          </a:xfrm>
          <a:prstGeom prst="ellipse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12480" y="0"/>
            <a:ext cx="32004" cy="6858000"/>
          </a:xfrm>
          <a:prstGeom prst="rect">
            <a:avLst/>
          </a:prstGeom>
          <a:solidFill>
            <a:srgbClr val="3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9DAD6"/>
                </a:solidFill>
                <a:latin typeface="Aptos"/>
              </a:rPr>
              <a:t>02 •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43770"/>
            <a:ext cx="77724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boat?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sz="28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2267712"/>
            <a:ext cx="7722108" cy="256032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2468880"/>
            <a:ext cx="54864" cy="192938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450592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THE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71216"/>
            <a:ext cx="7374636" cy="2226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Home-grown Indian D2C success story that most students can relate to.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market with many rivals (Noise,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OnePlus, Boult), ideal for competition analysis.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of public data: marketplace prices, ratings and reviews, Kaggle datasets.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pricing decisions to study: discounts, launches and bundles.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externality issues (e-waste, batteries) for the regulation outcome.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sz="1300" b="0" dirty="0">
              <a:solidFill>
                <a:srgbClr val="AEBE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31453" y="-941832"/>
            <a:ext cx="3749039" cy="3749039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663440"/>
            <a:ext cx="2743200" cy="274320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9DAD6"/>
                </a:solidFill>
                <a:latin typeface="Aptos"/>
              </a:rPr>
              <a:t>03 •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The six COs = our main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7589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ECF"/>
                </a:solidFill>
                <a:latin typeface="Aptos"/>
              </a:rPr>
              <a:t>Each CO answers one business question and produces one practical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4884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2350008"/>
            <a:ext cx="54864" cy="119786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F5F8FC"/>
                </a:solidFill>
                <a:latin typeface="Aptos"/>
              </a:rPr>
              <a:t>CO1  •  </a:t>
            </a:r>
            <a:r>
              <a:rPr lang="en-US" sz="1250" b="1" dirty="0">
                <a:solidFill>
                  <a:srgbClr val="F5F8FC"/>
                </a:solidFill>
                <a:latin typeface="Aptos"/>
              </a:rPr>
              <a:t>Elasticity</a:t>
            </a:r>
            <a:endParaRPr sz="125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752344"/>
            <a:ext cx="2834639" cy="2585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80" dirty="0">
                <a:solidFill>
                  <a:srgbClr val="AEBECF"/>
                </a:solidFill>
                <a:latin typeface="Aptos"/>
              </a:rPr>
              <a:t>Demand and price elasticity</a:t>
            </a:r>
            <a:endParaRPr sz="1080" b="0" dirty="0">
              <a:solidFill>
                <a:srgbClr val="AEBEC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24528" y="214884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89120" y="2350008"/>
            <a:ext cx="54864" cy="1197864"/>
          </a:xfrm>
          <a:prstGeom prst="roundRect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331720"/>
            <a:ext cx="2807208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F5F8FC"/>
                </a:solidFill>
                <a:latin typeface="Aptos"/>
              </a:rPr>
              <a:t>CO2  •  </a:t>
            </a:r>
            <a:r>
              <a:rPr lang="en-US" sz="1250" b="1" dirty="0">
                <a:solidFill>
                  <a:srgbClr val="F5F8FC"/>
                </a:solidFill>
                <a:latin typeface="Aptos"/>
              </a:rPr>
              <a:t>Consumer 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52344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dirty="0">
                <a:solidFill>
                  <a:srgbClr val="AEBECF"/>
                </a:solidFill>
                <a:latin typeface="Aptos"/>
              </a:rPr>
              <a:t>What triggers the purchase?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214884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55279" y="2350008"/>
            <a:ext cx="54864" cy="1197864"/>
          </a:xfrm>
          <a:prstGeom prst="roundRect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2331720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CO3  •  Cost &amp; 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52344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ECF"/>
                </a:solidFill>
                <a:latin typeface="Aptos"/>
              </a:rPr>
              <a:t>What does it cost to serve demand?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6052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59" y="4361688"/>
            <a:ext cx="54864" cy="1197864"/>
          </a:xfrm>
          <a:prstGeom prst="roundRect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343400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CO4  •  Game Theory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64024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ECF"/>
                </a:solidFill>
                <a:latin typeface="Aptos"/>
              </a:rPr>
              <a:t>How will competitors respond?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416052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89120" y="4361688"/>
            <a:ext cx="54864" cy="1197864"/>
          </a:xfrm>
          <a:prstGeom prst="roundRect">
            <a:avLst/>
          </a:prstGeom>
          <a:solidFill>
            <a:srgbClr val="FF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4343400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CO5  •  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764024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ECF"/>
                </a:solidFill>
                <a:latin typeface="Aptos"/>
              </a:rPr>
              <a:t>What price + offer maximises value?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90688" y="4160520"/>
            <a:ext cx="3337560" cy="160020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955279" y="4361688"/>
            <a:ext cx="54864" cy="1197864"/>
          </a:xfrm>
          <a:prstGeom prst="roundRect">
            <a:avLst/>
          </a:prstGeom>
          <a:solidFill>
            <a:srgbClr val="FF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38160" y="4343400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CO6  •  Externalities &amp;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764024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ECF"/>
                </a:solidFill>
                <a:latin typeface="Aptos"/>
              </a:rPr>
              <a:t>What outside forces can change the plan?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754880"/>
            <a:ext cx="2926080" cy="2926080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04 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Demand &amp; consumer behaviour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7589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ECF"/>
                </a:solidFill>
                <a:latin typeface="Aptos"/>
              </a:rPr>
              <a:t>Start with the customer: price response + reasons behind the purchase.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746" y="2423160"/>
            <a:ext cx="5074920" cy="3264408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22959" y="2752344"/>
            <a:ext cx="54864" cy="266090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89320" y="2148840"/>
            <a:ext cx="5138928" cy="3867912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53912" y="2350008"/>
            <a:ext cx="54864" cy="2660904"/>
          </a:xfrm>
          <a:prstGeom prst="roundRect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2895630"/>
            <a:ext cx="4636008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Measure the pull of:
• </a:t>
            </a:r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Price &amp; discounts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
• </a:t>
            </a:r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Battery life &amp; charging speed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
• S</a:t>
            </a:r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ound quality &amp; features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
• </a:t>
            </a:r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boAt 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brand trust</a:t>
            </a:r>
            <a:endParaRPr lang="en-IN" sz="1600" b="1" i="1" dirty="0">
              <a:solidFill>
                <a:schemeClr val="bg1">
                  <a:lumMod val="95000"/>
                </a:schemeClr>
              </a:solidFill>
              <a:latin typeface="Aptos"/>
            </a:endParaRPr>
          </a:p>
          <a:p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• Design &amp; influencer appeal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
• Sustainability
</a:t>
            </a:r>
            <a:r>
              <a:rPr lang="en-IN" sz="1600" b="1" i="1">
                <a:solidFill>
                  <a:schemeClr val="bg1">
                    <a:lumMod val="95000"/>
                  </a:schemeClr>
                </a:solidFill>
                <a:latin typeface="Aptos"/>
              </a:rPr>
              <a:t>Planned o</a:t>
            </a:r>
            <a:r>
              <a:rPr sz="1600" b="1" i="1">
                <a:solidFill>
                  <a:schemeClr val="bg1">
                    <a:lumMod val="95000"/>
                  </a:schemeClr>
                </a:solidFill>
                <a:latin typeface="Aptos"/>
              </a:rPr>
              <a:t>utput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: demand curve + </a:t>
            </a:r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customer </a:t>
            </a:r>
            <a:r>
              <a:rPr sz="1600" b="1" i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trigger map</a:t>
            </a:r>
            <a:r>
              <a:rPr sz="1200" b="0" dirty="0">
                <a:solidFill>
                  <a:srgbClr val="AEBECF"/>
                </a:solidFill>
                <a:latin typeface="Aptos"/>
              </a:rPr>
              <a:t>.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20FBFAEF-DB2C-D8DD-CBC2-2963D09E920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3752" y="2464487"/>
            <a:ext cx="436626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i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’s products generally have elastic demand because consumers have many alternatives in the electronics market.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 small change in price can significantly affect the quantity demanded.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Competitive pricing and frequent discounts help </a:t>
            </a:r>
            <a:r>
              <a:rPr lang="en-US" altLang="en-US" b="1" i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attract price-sensitive customers.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822960"/>
            <a:ext cx="3749039" cy="3749039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663440"/>
            <a:ext cx="2743200" cy="274320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5303520"/>
            <a:ext cx="2743200" cy="2743200"/>
          </a:xfrm>
          <a:prstGeom prst="ellipse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05 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Cost, capacity &amp; break-even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7589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ECF"/>
                </a:solidFill>
                <a:latin typeface="Aptos"/>
              </a:rPr>
              <a:t>Build a simple unit-economics model before making pricing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76272"/>
            <a:ext cx="3337560" cy="306324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2377440"/>
            <a:ext cx="54864" cy="2660904"/>
          </a:xfrm>
          <a:prstGeom prst="roundRect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8FC"/>
                </a:solidFill>
                <a:latin typeface="Aptos"/>
              </a:rPr>
              <a:t>1 •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79776"/>
            <a:ext cx="2834639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AEBECF"/>
                </a:solidFill>
                <a:latin typeface="Aptos"/>
              </a:rPr>
              <a:t>Fixed costs
+ Variable cost 
Key drivers:
• materials • labor • manufacturing • logistics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2176272"/>
            <a:ext cx="3337560" cy="306324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89120" y="2377440"/>
            <a:ext cx="54864" cy="266090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359152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8FC"/>
                </a:solidFill>
                <a:latin typeface="Aptos"/>
              </a:rPr>
              <a:t>2 •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79776"/>
            <a:ext cx="2834639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AEBECF"/>
                </a:solidFill>
                <a:latin typeface="Aptos"/>
              </a:rPr>
              <a:t>Selling price
− Variable cost
= Contribution 
Then estimate contribution margin.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2176272"/>
            <a:ext cx="3337560" cy="3063240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55279" y="2377440"/>
            <a:ext cx="54864" cy="2660904"/>
          </a:xfrm>
          <a:prstGeom prst="roundRect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2359152"/>
            <a:ext cx="2807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8FC"/>
                </a:solidFill>
                <a:latin typeface="Aptos"/>
              </a:rPr>
              <a:t>3 • BREAK-EVEN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79776"/>
            <a:ext cx="2834639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AEBECF"/>
                </a:solidFill>
                <a:latin typeface="Aptos"/>
              </a:rPr>
              <a:t>Break-even volume
= Fixed costs ÷ Contribution 
Compare required volume with sales/capacity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754880"/>
            <a:ext cx="2926080" cy="2926080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212080"/>
            <a:ext cx="3108960" cy="3108960"/>
          </a:xfrm>
          <a:prstGeom prst="ellipse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06 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Competition through game theory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52194"/>
            <a:ext cx="9217152" cy="3190577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06373" y="3271310"/>
            <a:ext cx="54864" cy="2752344"/>
          </a:xfrm>
          <a:prstGeom prst="roundRect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1268" y="3229078"/>
            <a:ext cx="31272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8FC"/>
                </a:solidFill>
                <a:latin typeface="Aptos"/>
              </a:rPr>
              <a:t>COMPETITOR </a:t>
            </a:r>
            <a:r>
              <a:rPr lang="en-US" sz="1400" b="1" dirty="0">
                <a:solidFill>
                  <a:srgbClr val="F5F8FC"/>
                </a:solidFill>
                <a:latin typeface="Aptos"/>
              </a:rPr>
              <a:t>S</a:t>
            </a:r>
            <a:r>
              <a:rPr sz="1400" b="1" dirty="0">
                <a:solidFill>
                  <a:srgbClr val="F5F8FC"/>
                </a:solidFill>
                <a:latin typeface="Aptos"/>
              </a:rPr>
              <a:t>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1933912"/>
            <a:ext cx="6419088" cy="827576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962204" y="2176272"/>
            <a:ext cx="45719" cy="342856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3584" y="2087248"/>
            <a:ext cx="5797296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1" dirty="0">
                <a:solidFill>
                  <a:srgbClr val="F5F8FC"/>
                </a:solidFill>
                <a:latin typeface="Aptos"/>
              </a:rPr>
              <a:t>BOAT’S </a:t>
            </a:r>
            <a:r>
              <a:rPr sz="1300" b="1" dirty="0">
                <a:solidFill>
                  <a:srgbClr val="F5F8FC"/>
                </a:solidFill>
                <a:latin typeface="Aptos"/>
              </a:rPr>
              <a:t>CHOICES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2414163"/>
            <a:ext cx="58247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AEBECF"/>
                </a:solidFill>
                <a:latin typeface="Aptos"/>
              </a:rPr>
              <a:t>A  Price cut   |   B  Maintain price   |   C  Add value / features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2D595575-9C84-4E12-6730-0E33BFC05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247" y="3230559"/>
            <a:ext cx="902512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faces strong competition from brands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Noise, Boult, JBL, Realme, and OnePlus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in the Indian audio and wearable market.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These competitors compete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affordable pricing, product features, design, and frequent discounts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maintains an advantage through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strong brand recognition, youth-focused marketing, and wide online presence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822960"/>
            <a:ext cx="3749039" cy="3749039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663440"/>
            <a:ext cx="2743200" cy="274320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05840" y="5303520"/>
            <a:ext cx="2743200" cy="2743200"/>
          </a:xfrm>
          <a:prstGeom prst="ellipse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07 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F5F8FC"/>
                </a:solidFill>
                <a:latin typeface="Aptos"/>
              </a:rPr>
              <a:t>PYTHON</a:t>
            </a:r>
            <a:endParaRPr sz="28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" y="1532958"/>
            <a:ext cx="9464040" cy="3782937"/>
          </a:xfrm>
          <a:prstGeom prst="roundRect">
            <a:avLst/>
          </a:prstGeom>
          <a:solidFill>
            <a:srgbClr val="101A2A"/>
          </a:solidFill>
          <a:ln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0391" y="2052828"/>
            <a:ext cx="54864" cy="2752344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8740C65-E388-7262-2DB8-FF72D3B637C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95578" y="1884186"/>
            <a:ext cx="7758684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can import BOAT’s financial data from Excel/CSV files and organize revenue, expenses, profit, etc. into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DataFrames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can perform calculations such 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growth rates, averages, percentage changes, and profit margins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Matplotlib/Seaborn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can create graphs showing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revenue and profit trends across different years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 example,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Profit Margin = (Net Profit ÷ Revenue) × 100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which Python can calculate automatically for each year.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Pandas can also create records showing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Year, Revenue, Expenses, Net Profit and Profit Margin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 a clean table.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Graphs can then be used to compare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revenue growth, profitability, costs, and performance over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makes the BOAT report more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data-driven, visual, and easier to interpret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754880"/>
            <a:ext cx="2926080" cy="2926080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212080"/>
            <a:ext cx="3108960" cy="3108960"/>
          </a:xfrm>
          <a:prstGeom prst="ellipse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9DAD6"/>
                </a:solidFill>
                <a:latin typeface="Aptos"/>
              </a:rPr>
              <a:t>08 • </a:t>
            </a:r>
          </a:p>
        </p:txBody>
      </p:sp>
      <p:sp>
        <p:nvSpPr>
          <p:cNvPr id="8" name="TextBox 7"/>
          <p:cNvSpPr txBox="1"/>
          <p:nvPr/>
        </p:nvSpPr>
        <p:spPr>
          <a:xfrm rot="10800000" flipV="1">
            <a:off x="832049" y="1685140"/>
            <a:ext cx="779315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F5F8FC"/>
                </a:solidFill>
                <a:latin typeface="Aptos"/>
              </a:rPr>
              <a:t>EXTERNALITIES AND REGULATIONS</a:t>
            </a:r>
            <a:endParaRPr sz="28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B06CDD15-EEC0-1DC1-F59C-B8E2EE082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461" y="2208360"/>
            <a:ext cx="877171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E-waste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from discarded earphones, headphones and smartwatches can create negative environmental externalities.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Battery disposal and electronic waste can cause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pollution and health risks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if not properly managed.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must follow India’s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E-Waste Management Rules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and Extended Producer Responsibility (EPR) requirements.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Its products must also comply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BIS standards, consumer-protection laws, and applicable product-safety regulations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Proper recycling, responsible packaging and compliance help 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BOAT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reduce environmental impact and maintain customer trust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566661" y="128018"/>
            <a:ext cx="3749039" cy="3749039"/>
          </a:xfrm>
          <a:prstGeom prst="ellipse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8134292" y="2907788"/>
            <a:ext cx="2743200" cy="2743200"/>
          </a:xfrm>
          <a:prstGeom prst="ellipse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685800" cy="7315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21792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9DAD6"/>
                </a:solidFill>
                <a:latin typeface="Aptos"/>
              </a:rPr>
              <a:t>09 •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7772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F5F8FC"/>
                </a:solidFill>
                <a:latin typeface="Aptos"/>
              </a:rPr>
              <a:t>SOURCE</a:t>
            </a:r>
            <a:endParaRPr sz="28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2084831"/>
            <a:ext cx="54864" cy="438912"/>
          </a:xfrm>
          <a:prstGeom prst="roundRect">
            <a:avLst/>
          </a:prstGeom>
          <a:solidFill>
            <a:srgbClr val="49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066543"/>
            <a:ext cx="6725413" cy="3716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BOAT’s official website</a:t>
            </a:r>
            <a:r>
              <a:rPr lang="en-US" sz="1600" dirty="0">
                <a:solidFill>
                  <a:schemeClr val="bg1"/>
                </a:solidFill>
              </a:rPr>
              <a:t> provides information about its products, business, and brand strategy.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BOAT Annual Reports</a:t>
            </a:r>
            <a:r>
              <a:rPr lang="en-US" sz="1600" dirty="0">
                <a:solidFill>
                  <a:schemeClr val="bg1"/>
                </a:solidFill>
              </a:rPr>
              <a:t> provide financial performance, revenue, expenses, and company growth.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Ministry of Corporate Affairs (MCA)</a:t>
            </a:r>
            <a:r>
              <a:rPr lang="en-US" sz="1600" dirty="0">
                <a:solidFill>
                  <a:schemeClr val="bg1"/>
                </a:solidFill>
              </a:rPr>
              <a:t> provides official company filings and corporate records.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Investor reports</a:t>
            </a:r>
            <a:r>
              <a:rPr lang="en-US" sz="1600" dirty="0">
                <a:solidFill>
                  <a:schemeClr val="bg1"/>
                </a:solidFill>
              </a:rPr>
              <a:t> provide information about business performance, management, and future plans.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CPCB (Central Pollution Control Board)</a:t>
            </a:r>
            <a:r>
              <a:rPr lang="en-US" sz="1600" dirty="0">
                <a:solidFill>
                  <a:schemeClr val="bg1"/>
                </a:solidFill>
              </a:rPr>
              <a:t> provides information on e-waste and EPR regulations.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Industry reports</a:t>
            </a:r>
            <a:r>
              <a:rPr lang="en-US" sz="1600" dirty="0">
                <a:solidFill>
                  <a:schemeClr val="bg1"/>
                </a:solidFill>
              </a:rPr>
              <a:t> provide information about BOAT’s market share, competitors, and consumer trends.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News and financial platforms</a:t>
            </a:r>
            <a:r>
              <a:rPr lang="en-US" sz="1600" dirty="0">
                <a:solidFill>
                  <a:schemeClr val="bg1"/>
                </a:solidFill>
              </a:rPr>
              <a:t> such as Economic Times and Business Standard can provide recent developments and market analysis.</a:t>
            </a:r>
          </a:p>
          <a:p>
            <a:pPr algn="l"/>
            <a:endParaRPr sz="115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2724912"/>
            <a:ext cx="54864" cy="438912"/>
          </a:xfrm>
          <a:prstGeom prst="roundRect">
            <a:avLst/>
          </a:prstGeom>
          <a:solidFill>
            <a:srgbClr val="54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8368" y="3364992"/>
            <a:ext cx="54864" cy="438912"/>
          </a:xfrm>
          <a:prstGeom prst="roundRect">
            <a:avLst/>
          </a:prstGeom>
          <a:solidFill>
            <a:srgbClr val="5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8368" y="4005072"/>
            <a:ext cx="54864" cy="438912"/>
          </a:xfrm>
          <a:prstGeom prst="roundRect">
            <a:avLst/>
          </a:prstGeom>
          <a:solidFill>
            <a:srgbClr val="9C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" y="4645152"/>
            <a:ext cx="54864" cy="438912"/>
          </a:xfrm>
          <a:prstGeom prst="roundRect">
            <a:avLst/>
          </a:prstGeom>
          <a:solidFill>
            <a:srgbClr val="FF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58368" y="5285232"/>
            <a:ext cx="54864" cy="438912"/>
          </a:xfrm>
          <a:prstGeom prst="roundRect">
            <a:avLst/>
          </a:prstGeom>
          <a:solidFill>
            <a:srgbClr val="FF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920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 Sarugari</dc:creator>
  <cp:keywords/>
  <dc:description>generated using python-pptx</dc:description>
  <cp:lastModifiedBy>Harshith Lion</cp:lastModifiedBy>
  <cp:revision>10</cp:revision>
  <dcterms:created xsi:type="dcterms:W3CDTF">2013-01-27T09:14:16Z</dcterms:created>
  <dcterms:modified xsi:type="dcterms:W3CDTF">2026-10-08T02:59:08Z</dcterms:modified>
  <cp:category/>
</cp:coreProperties>
</file>